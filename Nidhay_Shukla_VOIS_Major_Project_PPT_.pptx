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3348" autoAdjust="0"/>
  </p:normalViewPr>
  <p:slideViewPr>
    <p:cSldViewPr snapToGrid="0">
      <p:cViewPr varScale="1">
        <p:scale>
          <a:sx n="62" d="100"/>
          <a:sy n="62" d="100"/>
        </p:scale>
        <p:origin x="756"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idhayshukla45/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5" y="3583914"/>
            <a:ext cx="10046391" cy="861497"/>
          </a:xfrm>
        </p:spPr>
        <p:txBody>
          <a:bodyPr vert="horz" lIns="91440" tIns="45720" rIns="91440" bIns="45720" rtlCol="0" anchor="t">
            <a:normAutofit/>
          </a:bodyPr>
          <a:lstStyle/>
          <a:p>
            <a:r>
              <a:rPr lang="en-US" b="0" dirty="0">
                <a:solidFill>
                  <a:schemeClr val="tx1"/>
                </a:solidFill>
              </a:rPr>
              <a:t>Student Name – Nidhay Shukla</a:t>
            </a:r>
            <a:endParaRPr lang="en-IN" b="0" dirty="0">
              <a:solidFill>
                <a:schemeClr val="tx1"/>
              </a:solidFill>
            </a:endParaRPr>
          </a:p>
          <a:p>
            <a:r>
              <a:rPr lang="en-US" b="0" dirty="0">
                <a:solidFill>
                  <a:schemeClr val="tx1"/>
                </a:solidFill>
              </a:rPr>
              <a:t>College Name – Shri Saraswati Bhuvan Education Society College of Science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57405" y="2844750"/>
            <a:ext cx="10774812" cy="743448"/>
          </a:xfrm>
        </p:spPr>
        <p:txBody>
          <a:bodyPr>
            <a:normAutofit/>
          </a:bodyPr>
          <a:lstStyle/>
          <a:p>
            <a:r>
              <a:rPr lang="en-GB" sz="3200" dirty="0"/>
              <a:t>Project Title - </a:t>
            </a:r>
            <a:r>
              <a:rPr lang="en-US" sz="3200" dirty="0"/>
              <a:t>Seasonal Agriculture Performance Analysis</a:t>
            </a:r>
            <a:r>
              <a:rPr lang="en-GB" sz="3200" dirty="0"/>
              <a:t>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476061"/>
            <a:ext cx="5257414" cy="369332"/>
          </a:xfrm>
          <a:prstGeom prst="rect">
            <a:avLst/>
          </a:prstGeom>
          <a:noFill/>
        </p:spPr>
        <p:txBody>
          <a:bodyPr wrap="square" rtlCol="0">
            <a:spAutoFit/>
          </a:bodyPr>
          <a:lstStyle/>
          <a:p>
            <a:r>
              <a:rPr lang="en-US" b="1" dirty="0"/>
              <a:t>AICTE STU ID : </a:t>
            </a:r>
            <a:r>
              <a:rPr lang="en-US" dirty="0"/>
              <a:t>STU66cd85948b0f71724745108 </a:t>
            </a:r>
            <a:r>
              <a:rPr lang="en-US" b="1" dirty="0"/>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0" dur="500"/>
                                        <p:tgtEl>
                                          <p:spTgt spid="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randombar(horizontal)">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4"/>
            <a:ext cx="6276109" cy="760116"/>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2DB4BCAE-8F31-2D06-D36A-F2A1B46D6109}"/>
              </a:ext>
            </a:extLst>
          </p:cNvPr>
          <p:cNvSpPr txBox="1"/>
          <p:nvPr/>
        </p:nvSpPr>
        <p:spPr>
          <a:xfrm>
            <a:off x="675957" y="1890793"/>
            <a:ext cx="9490931" cy="3385542"/>
          </a:xfrm>
          <a:prstGeom prst="rect">
            <a:avLst/>
          </a:prstGeom>
          <a:noFill/>
        </p:spPr>
        <p:txBody>
          <a:bodyPr wrap="square" rtlCol="0">
            <a:spAutoFit/>
          </a:bodyPr>
          <a:lstStyle/>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Study of agricultural performance across different seasons. </a:t>
            </a:r>
          </a:p>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Comparison of different crops based on yield, production, revenue and profit. </a:t>
            </a:r>
          </a:p>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Analysis of the relationship between rainfall, yield and farm area. </a:t>
            </a:r>
          </a:p>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Comparison of different irrigation methods and water efficiency. </a:t>
            </a:r>
          </a:p>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Analysis of revenue and cost across Kharif, Rabi and Zaid seasons. </a:t>
            </a:r>
          </a:p>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Use of statistical analysis and graphs to find patterns in the dataset. </a:t>
            </a:r>
          </a:p>
          <a:p>
            <a:pPr marL="342900" lvl="0" indent="-342900">
              <a:buClr>
                <a:schemeClr val="accent4"/>
              </a:buClr>
              <a:buFont typeface="Wingdings" panose="05000000000000000000" pitchFamily="2" charset="2"/>
              <a:buChar char="§"/>
            </a:pPr>
            <a:r>
              <a:rPr lang="en-US" sz="2200" dirty="0">
                <a:latin typeface="Arial" panose="020B0604020202020204" pitchFamily="34" charset="0"/>
                <a:cs typeface="Arial" panose="020B0604020202020204" pitchFamily="34" charset="0"/>
              </a:rPr>
              <a:t>Additional analysis of crop profitability, irrigation efficiency and seasonal revenue and cost.</a:t>
            </a:r>
          </a:p>
          <a:p>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3481645-7B83-8186-2B28-3B1543412917}"/>
              </a:ext>
            </a:extLst>
          </p:cNvPr>
          <p:cNvSpPr txBox="1"/>
          <p:nvPr/>
        </p:nvSpPr>
        <p:spPr>
          <a:xfrm>
            <a:off x="929898" y="5276335"/>
            <a:ext cx="6230319" cy="430887"/>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Dataset:</a:t>
            </a:r>
            <a:r>
              <a:rPr lang="en-US" sz="2200" dirty="0">
                <a:latin typeface="Arial" panose="020B0604020202020204" pitchFamily="34" charset="0"/>
                <a:cs typeface="Arial" panose="020B0604020202020204" pitchFamily="34" charset="0"/>
              </a:rPr>
              <a:t> 4,000 records | 28 columns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8">
                                            <p:txEl>
                                              <p:pRg st="0" end="0"/>
                                            </p:txEl>
                                          </p:spTgt>
                                        </p:tgtEl>
                                        <p:attrNameLst>
                                          <p:attrName>style.visibility</p:attrName>
                                        </p:attrNameLst>
                                      </p:cBhvr>
                                      <p:to>
                                        <p:strVal val="visible"/>
                                      </p:to>
                                    </p:set>
                                    <p:animEffect transition="in" filter="fade">
                                      <p:cBhvr>
                                        <p:cTn id="63" dur="1000"/>
                                        <p:tgtEl>
                                          <p:spTgt spid="8">
                                            <p:txEl>
                                              <p:pRg st="0" end="0"/>
                                            </p:txEl>
                                          </p:spTgt>
                                        </p:tgtEl>
                                      </p:cBhvr>
                                    </p:animEffect>
                                    <p:anim calcmode="lin" valueType="num">
                                      <p:cBhvr>
                                        <p:cTn id="6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875295"/>
            <a:ext cx="8748105" cy="4541003"/>
          </a:xfrm>
        </p:spPr>
        <p:txBody>
          <a:bodyPr>
            <a:normAutofit/>
          </a:bodyPr>
          <a:lstStyle/>
          <a:p>
            <a:pPr lvl="0"/>
            <a:r>
              <a:rPr lang="en-US" sz="2400" dirty="0">
                <a:latin typeface="Arial" panose="020B0604020202020204" pitchFamily="34" charset="0"/>
                <a:cs typeface="Arial" panose="020B0604020202020204" pitchFamily="34" charset="0"/>
              </a:rPr>
              <a:t>Farmers – To compare crop performance, profit and water usage. </a:t>
            </a:r>
          </a:p>
          <a:p>
            <a:pPr lvl="0"/>
            <a:r>
              <a:rPr lang="en-US" sz="2400" dirty="0">
                <a:latin typeface="Arial" panose="020B0604020202020204" pitchFamily="34" charset="0"/>
                <a:cs typeface="Arial" panose="020B0604020202020204" pitchFamily="34" charset="0"/>
              </a:rPr>
              <a:t>Agricultural Departments – To understand seasonal and crop-wise performance. </a:t>
            </a:r>
          </a:p>
          <a:p>
            <a:pPr lvl="0"/>
            <a:r>
              <a:rPr lang="en-US" sz="2400" dirty="0">
                <a:latin typeface="Arial" panose="020B0604020202020204" pitchFamily="34" charset="0"/>
                <a:cs typeface="Arial" panose="020B0604020202020204" pitchFamily="34" charset="0"/>
              </a:rPr>
              <a:t>Agricultural Researchers – To study patterns in agricultural data. </a:t>
            </a:r>
          </a:p>
          <a:p>
            <a:pPr lvl="0"/>
            <a:r>
              <a:rPr lang="en-US" sz="2400" dirty="0">
                <a:latin typeface="Arial" panose="020B0604020202020204" pitchFamily="34" charset="0"/>
                <a:cs typeface="Arial" panose="020B0604020202020204" pitchFamily="34" charset="0"/>
              </a:rPr>
              <a:t>Agriculture Consultants – To help in farm planning and analysis. </a:t>
            </a:r>
          </a:p>
          <a:p>
            <a:pPr lvl="0"/>
            <a:r>
              <a:rPr lang="en-US" sz="2400" dirty="0">
                <a:latin typeface="Arial" panose="020B0604020202020204" pitchFamily="34" charset="0"/>
                <a:cs typeface="Arial" panose="020B0604020202020204" pitchFamily="34" charset="0"/>
              </a:rPr>
              <a:t>Government and Policy Makers – To understand agricultural performance and plan future studies.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76392" y="1432560"/>
            <a:ext cx="8441927" cy="5243448"/>
          </a:xfrm>
        </p:spPr>
        <p:txBody>
          <a:bodyPr/>
          <a:lstStyle/>
          <a:p>
            <a:pPr lvl="0"/>
            <a:r>
              <a:rPr lang="en-US" sz="2200" dirty="0">
                <a:latin typeface="Arial" panose="020B0604020202020204" pitchFamily="34" charset="0"/>
                <a:cs typeface="Arial" panose="020B0604020202020204" pitchFamily="34" charset="0"/>
              </a:rPr>
              <a:t>Python – Main programming language </a:t>
            </a:r>
          </a:p>
          <a:p>
            <a:pPr lvl="0"/>
            <a:r>
              <a:rPr lang="en-US" sz="2200" dirty="0">
                <a:latin typeface="Arial" panose="020B0604020202020204" pitchFamily="34" charset="0"/>
                <a:cs typeface="Arial" panose="020B0604020202020204" pitchFamily="34" charset="0"/>
              </a:rPr>
              <a:t>Pandas – Data handling and analysis </a:t>
            </a:r>
          </a:p>
          <a:p>
            <a:pPr lvl="0"/>
            <a:r>
              <a:rPr lang="en-US" sz="2200" dirty="0">
                <a:latin typeface="Arial" panose="020B0604020202020204" pitchFamily="34" charset="0"/>
                <a:cs typeface="Arial" panose="020B0604020202020204" pitchFamily="34" charset="0"/>
              </a:rPr>
              <a:t>NumPy – Numerical calculations </a:t>
            </a:r>
          </a:p>
          <a:p>
            <a:pPr lvl="0"/>
            <a:r>
              <a:rPr lang="en-US" sz="2200" dirty="0">
                <a:latin typeface="Arial" panose="020B0604020202020204" pitchFamily="34" charset="0"/>
                <a:cs typeface="Arial" panose="020B0604020202020204" pitchFamily="34" charset="0"/>
              </a:rPr>
              <a:t>Matplotlib – Data visualization </a:t>
            </a:r>
          </a:p>
          <a:p>
            <a:pPr lvl="0"/>
            <a:r>
              <a:rPr lang="en-US" sz="2200" dirty="0">
                <a:latin typeface="Arial" panose="020B0604020202020204" pitchFamily="34" charset="0"/>
                <a:cs typeface="Arial" panose="020B0604020202020204" pitchFamily="34" charset="0"/>
              </a:rPr>
              <a:t>Seaborn – Statistical graphs and visualization </a:t>
            </a:r>
          </a:p>
          <a:p>
            <a:pPr lvl="0"/>
            <a:r>
              <a:rPr lang="en-US" sz="2200" dirty="0">
                <a:latin typeface="Arial" panose="020B0604020202020204" pitchFamily="34" charset="0"/>
                <a:cs typeface="Arial" panose="020B0604020202020204" pitchFamily="34" charset="0"/>
              </a:rPr>
              <a:t>Google </a:t>
            </a:r>
            <a:r>
              <a:rPr lang="en-US" sz="2200" dirty="0" err="1">
                <a:latin typeface="Arial" panose="020B0604020202020204" pitchFamily="34" charset="0"/>
                <a:cs typeface="Arial" panose="020B0604020202020204" pitchFamily="34" charset="0"/>
              </a:rPr>
              <a:t>Colab</a:t>
            </a:r>
            <a:r>
              <a:rPr lang="en-US" sz="2200" dirty="0">
                <a:latin typeface="Arial" panose="020B0604020202020204" pitchFamily="34" charset="0"/>
                <a:cs typeface="Arial" panose="020B0604020202020204" pitchFamily="34" charset="0"/>
              </a:rPr>
              <a:t> – Coding and analysis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4801FB5-E1F4-7930-B5D0-53E01ED5810D}"/>
              </a:ext>
            </a:extLst>
          </p:cNvPr>
          <p:cNvPicPr>
            <a:picLocks noChangeAspect="1"/>
          </p:cNvPicPr>
          <p:nvPr/>
        </p:nvPicPr>
        <p:blipFill>
          <a:blip r:embed="rId3"/>
          <a:stretch>
            <a:fillRect/>
          </a:stretch>
        </p:blipFill>
        <p:spPr>
          <a:xfrm>
            <a:off x="675957" y="1400034"/>
            <a:ext cx="5254729" cy="4736352"/>
          </a:xfrm>
          <a:prstGeom prst="rect">
            <a:avLst/>
          </a:prstGeom>
          <a:ln>
            <a:solidFill>
              <a:schemeClr val="tx1"/>
            </a:solidFill>
          </a:ln>
        </p:spPr>
      </p:pic>
      <p:sp>
        <p:nvSpPr>
          <p:cNvPr id="9" name="TextBox 8">
            <a:extLst>
              <a:ext uri="{FF2B5EF4-FFF2-40B4-BE49-F238E27FC236}">
                <a16:creationId xmlns:a16="http://schemas.microsoft.com/office/drawing/2014/main" id="{202B79EF-244A-A988-C430-4E2D943047AD}"/>
              </a:ext>
            </a:extLst>
          </p:cNvPr>
          <p:cNvSpPr txBox="1"/>
          <p:nvPr/>
        </p:nvSpPr>
        <p:spPr>
          <a:xfrm>
            <a:off x="6462793" y="2230094"/>
            <a:ext cx="3921071" cy="2800767"/>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Explanation:</a:t>
            </a:r>
            <a:br>
              <a:rPr lang="en-US" sz="2200" dirty="0">
                <a:latin typeface="Arial" panose="020B0604020202020204" pitchFamily="34" charset="0"/>
                <a:cs typeface="Arial" panose="020B0604020202020204" pitchFamily="34" charset="0"/>
              </a:rPr>
            </a:br>
            <a:r>
              <a:rPr lang="en-US" sz="2200" dirty="0">
                <a:latin typeface="Arial" panose="020B0604020202020204" pitchFamily="34" charset="0"/>
                <a:cs typeface="Arial" panose="020B0604020202020204" pitchFamily="34" charset="0"/>
              </a:rPr>
              <a:t>The bar plot compares the average yield across Kharif, Rabi and Zaid seasons. It helps to identify which season has higher or lower average agricultural yield in the dataset.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fade">
                                      <p:cBhvr>
                                        <p:cTn id="19" dur="1000"/>
                                        <p:tgtEl>
                                          <p:spTgt spid="9">
                                            <p:txEl>
                                              <p:pRg st="0" end="0"/>
                                            </p:txEl>
                                          </p:spTgt>
                                        </p:tgtEl>
                                      </p:cBhvr>
                                    </p:animEffect>
                                    <p:anim calcmode="lin" valueType="num">
                                      <p:cBhvr>
                                        <p:cTn id="20"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302AEA3-474C-1314-9AF0-BF2D3E26BC2C}"/>
              </a:ext>
            </a:extLst>
          </p:cNvPr>
          <p:cNvPicPr>
            <a:picLocks noChangeAspect="1"/>
          </p:cNvPicPr>
          <p:nvPr/>
        </p:nvPicPr>
        <p:blipFill>
          <a:blip r:embed="rId3"/>
          <a:stretch>
            <a:fillRect/>
          </a:stretch>
        </p:blipFill>
        <p:spPr>
          <a:xfrm>
            <a:off x="495946" y="1275371"/>
            <a:ext cx="5600053" cy="4972744"/>
          </a:xfrm>
          <a:prstGeom prst="rect">
            <a:avLst/>
          </a:prstGeom>
          <a:ln>
            <a:solidFill>
              <a:schemeClr val="tx1"/>
            </a:solidFill>
          </a:ln>
        </p:spPr>
      </p:pic>
      <p:sp>
        <p:nvSpPr>
          <p:cNvPr id="9" name="TextBox 8">
            <a:extLst>
              <a:ext uri="{FF2B5EF4-FFF2-40B4-BE49-F238E27FC236}">
                <a16:creationId xmlns:a16="http://schemas.microsoft.com/office/drawing/2014/main" id="{7CCF4948-2A2A-275A-314B-8E682D0027DF}"/>
              </a:ext>
            </a:extLst>
          </p:cNvPr>
          <p:cNvSpPr txBox="1"/>
          <p:nvPr/>
        </p:nvSpPr>
        <p:spPr>
          <a:xfrm>
            <a:off x="6493790" y="2324746"/>
            <a:ext cx="4649491" cy="2462213"/>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Explanation:</a:t>
            </a:r>
          </a:p>
          <a:p>
            <a:r>
              <a:rPr lang="en-US" sz="2200" dirty="0">
                <a:latin typeface="Arial" panose="020B0604020202020204" pitchFamily="34" charset="0"/>
                <a:cs typeface="Arial" panose="020B0604020202020204" pitchFamily="34" charset="0"/>
              </a:rPr>
              <a:t>The bar plot compares the average profit generated by different crops. It shows that Sugarcane and Chilli have higher average profits, while some crops have negative average profit in the dataset.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fade">
                                      <p:cBhvr>
                                        <p:cTn id="19" dur="1000"/>
                                        <p:tgtEl>
                                          <p:spTgt spid="9">
                                            <p:txEl>
                                              <p:pRg st="0" end="0"/>
                                            </p:txEl>
                                          </p:spTgt>
                                        </p:tgtEl>
                                      </p:cBhvr>
                                    </p:animEffect>
                                    <p:anim calcmode="lin" valueType="num">
                                      <p:cBhvr>
                                        <p:cTn id="20"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xEl>
                                              <p:pRg st="1" end="1"/>
                                            </p:txEl>
                                          </p:spTgt>
                                        </p:tgtEl>
                                        <p:attrNameLst>
                                          <p:attrName>style.visibility</p:attrName>
                                        </p:attrNameLst>
                                      </p:cBhvr>
                                      <p:to>
                                        <p:strVal val="visible"/>
                                      </p:to>
                                    </p:set>
                                    <p:animEffect transition="in" filter="fade">
                                      <p:cBhvr>
                                        <p:cTn id="24" dur="1000"/>
                                        <p:tgtEl>
                                          <p:spTgt spid="9">
                                            <p:txEl>
                                              <p:pRg st="1" end="1"/>
                                            </p:txEl>
                                          </p:spTgt>
                                        </p:tgtEl>
                                      </p:cBhvr>
                                    </p:animEffect>
                                    <p:anim calcmode="lin" valueType="num">
                                      <p:cBhvr>
                                        <p:cTn id="2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26646411-ECE1-3F13-19DD-8459517BB6FF}"/>
              </a:ext>
            </a:extLst>
          </p:cNvPr>
          <p:cNvPicPr>
            <a:picLocks noChangeAspect="1"/>
          </p:cNvPicPr>
          <p:nvPr/>
        </p:nvPicPr>
        <p:blipFill>
          <a:blip r:embed="rId3"/>
          <a:stretch>
            <a:fillRect/>
          </a:stretch>
        </p:blipFill>
        <p:spPr>
          <a:xfrm>
            <a:off x="520974" y="1201586"/>
            <a:ext cx="5834562" cy="4991797"/>
          </a:xfrm>
          <a:prstGeom prst="rect">
            <a:avLst/>
          </a:prstGeom>
          <a:ln>
            <a:solidFill>
              <a:schemeClr val="tx1"/>
            </a:solidFill>
          </a:ln>
        </p:spPr>
      </p:pic>
      <p:sp>
        <p:nvSpPr>
          <p:cNvPr id="13" name="TextBox 12">
            <a:extLst>
              <a:ext uri="{FF2B5EF4-FFF2-40B4-BE49-F238E27FC236}">
                <a16:creationId xmlns:a16="http://schemas.microsoft.com/office/drawing/2014/main" id="{246F8C92-5EF2-4B23-28B7-33403824B654}"/>
              </a:ext>
            </a:extLst>
          </p:cNvPr>
          <p:cNvSpPr txBox="1"/>
          <p:nvPr/>
        </p:nvSpPr>
        <p:spPr>
          <a:xfrm>
            <a:off x="6617776" y="2123268"/>
            <a:ext cx="4076055" cy="2800767"/>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Explanation: </a:t>
            </a:r>
          </a:p>
          <a:p>
            <a:r>
              <a:rPr lang="en-US" sz="2200" dirty="0">
                <a:latin typeface="Arial" panose="020B0604020202020204" pitchFamily="34" charset="0"/>
                <a:cs typeface="Arial" panose="020B0604020202020204" pitchFamily="34" charset="0"/>
              </a:rPr>
              <a:t>The box plot compares water efficiency across different irrigation methods. It shows that water efficiency varies between Rainfed, Drip, Sprinkler and Flood irrigation methods.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barn(inVertical)">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animEffect transition="in" filter="fade">
                                      <p:cBhvr>
                                        <p:cTn id="19" dur="1000"/>
                                        <p:tgtEl>
                                          <p:spTgt spid="13">
                                            <p:txEl>
                                              <p:pRg st="0" end="0"/>
                                            </p:txEl>
                                          </p:spTgt>
                                        </p:tgtEl>
                                      </p:cBhvr>
                                    </p:animEffect>
                                    <p:anim calcmode="lin" valueType="num">
                                      <p:cBhvr>
                                        <p:cTn id="20"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xEl>
                                              <p:pRg st="1" end="1"/>
                                            </p:txEl>
                                          </p:spTgt>
                                        </p:tgtEl>
                                        <p:attrNameLst>
                                          <p:attrName>style.visibility</p:attrName>
                                        </p:attrNameLst>
                                      </p:cBhvr>
                                      <p:to>
                                        <p:strVal val="visible"/>
                                      </p:to>
                                    </p:set>
                                    <p:animEffect transition="in" filter="fade">
                                      <p:cBhvr>
                                        <p:cTn id="24" dur="1000"/>
                                        <p:tgtEl>
                                          <p:spTgt spid="13">
                                            <p:txEl>
                                              <p:pRg st="1" end="1"/>
                                            </p:txEl>
                                          </p:spTgt>
                                        </p:tgtEl>
                                      </p:cBhvr>
                                    </p:animEffect>
                                    <p:anim calcmode="lin" valueType="num">
                                      <p:cBhvr>
                                        <p:cTn id="2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C797BB28-577B-C7D7-832D-D8E33E059DDA}"/>
              </a:ext>
            </a:extLst>
          </p:cNvPr>
          <p:cNvPicPr>
            <a:picLocks noChangeAspect="1"/>
          </p:cNvPicPr>
          <p:nvPr/>
        </p:nvPicPr>
        <p:blipFill>
          <a:blip r:embed="rId3"/>
          <a:stretch>
            <a:fillRect/>
          </a:stretch>
        </p:blipFill>
        <p:spPr>
          <a:xfrm>
            <a:off x="433953" y="1201586"/>
            <a:ext cx="5920352" cy="4848902"/>
          </a:xfrm>
          <a:prstGeom prst="rect">
            <a:avLst/>
          </a:prstGeom>
          <a:ln>
            <a:solidFill>
              <a:schemeClr val="tx1"/>
            </a:solidFill>
          </a:ln>
        </p:spPr>
      </p:pic>
      <p:sp>
        <p:nvSpPr>
          <p:cNvPr id="13" name="TextBox 12">
            <a:extLst>
              <a:ext uri="{FF2B5EF4-FFF2-40B4-BE49-F238E27FC236}">
                <a16:creationId xmlns:a16="http://schemas.microsoft.com/office/drawing/2014/main" id="{EC9E23E8-47E8-C369-F093-B2437CE1CB67}"/>
              </a:ext>
            </a:extLst>
          </p:cNvPr>
          <p:cNvSpPr txBox="1"/>
          <p:nvPr/>
        </p:nvSpPr>
        <p:spPr>
          <a:xfrm>
            <a:off x="6602278" y="2197893"/>
            <a:ext cx="4680489" cy="2462213"/>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Explanation: </a:t>
            </a:r>
          </a:p>
          <a:p>
            <a:r>
              <a:rPr lang="en-US" sz="2200" dirty="0">
                <a:latin typeface="Arial" panose="020B0604020202020204" pitchFamily="34" charset="0"/>
                <a:cs typeface="Arial" panose="020B0604020202020204" pitchFamily="34" charset="0"/>
              </a:rPr>
              <a:t>The grouped bar plot compares the average yield of different crops across Kharif, Rabi and Zaid seasons. It helps to see how the yield of each crop differs between seasons</a:t>
            </a:r>
            <a:r>
              <a:rPr lang="en-US" dirty="0"/>
              <a:t>.</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barn(inVertical)">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animEffect transition="in" filter="fade">
                                      <p:cBhvr>
                                        <p:cTn id="19" dur="1000"/>
                                        <p:tgtEl>
                                          <p:spTgt spid="13">
                                            <p:txEl>
                                              <p:pRg st="0" end="0"/>
                                            </p:txEl>
                                          </p:spTgt>
                                        </p:tgtEl>
                                      </p:cBhvr>
                                    </p:animEffect>
                                    <p:anim calcmode="lin" valueType="num">
                                      <p:cBhvr>
                                        <p:cTn id="20"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xEl>
                                              <p:pRg st="1" end="1"/>
                                            </p:txEl>
                                          </p:spTgt>
                                        </p:tgtEl>
                                        <p:attrNameLst>
                                          <p:attrName>style.visibility</p:attrName>
                                        </p:attrNameLst>
                                      </p:cBhvr>
                                      <p:to>
                                        <p:strVal val="visible"/>
                                      </p:to>
                                    </p:set>
                                    <p:animEffect transition="in" filter="fade">
                                      <p:cBhvr>
                                        <p:cTn id="24" dur="1000"/>
                                        <p:tgtEl>
                                          <p:spTgt spid="13">
                                            <p:txEl>
                                              <p:pRg st="1" end="1"/>
                                            </p:txEl>
                                          </p:spTgt>
                                        </p:tgtEl>
                                      </p:cBhvr>
                                    </p:animEffect>
                                    <p:anim calcmode="lin" valueType="num">
                                      <p:cBhvr>
                                        <p:cTn id="2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E211356-3052-6F7A-D4F5-09F8218B8009}"/>
              </a:ext>
            </a:extLst>
          </p:cNvPr>
          <p:cNvPicPr>
            <a:picLocks noChangeAspect="1"/>
          </p:cNvPicPr>
          <p:nvPr/>
        </p:nvPicPr>
        <p:blipFill>
          <a:blip r:embed="rId3"/>
          <a:stretch>
            <a:fillRect/>
          </a:stretch>
        </p:blipFill>
        <p:spPr>
          <a:xfrm>
            <a:off x="294469" y="1201586"/>
            <a:ext cx="6230318" cy="4925112"/>
          </a:xfrm>
          <a:prstGeom prst="rect">
            <a:avLst/>
          </a:prstGeom>
          <a:ln>
            <a:solidFill>
              <a:schemeClr val="tx1"/>
            </a:solidFill>
          </a:ln>
        </p:spPr>
      </p:pic>
      <p:sp>
        <p:nvSpPr>
          <p:cNvPr id="11" name="TextBox 10">
            <a:extLst>
              <a:ext uri="{FF2B5EF4-FFF2-40B4-BE49-F238E27FC236}">
                <a16:creationId xmlns:a16="http://schemas.microsoft.com/office/drawing/2014/main" id="{6774A897-65BF-A4CE-25F2-5A87EAA7FCB8}"/>
              </a:ext>
            </a:extLst>
          </p:cNvPr>
          <p:cNvSpPr txBox="1"/>
          <p:nvPr/>
        </p:nvSpPr>
        <p:spPr>
          <a:xfrm>
            <a:off x="6741763" y="2324746"/>
            <a:ext cx="5036949" cy="2123658"/>
          </a:xfrm>
          <a:prstGeom prst="rect">
            <a:avLst/>
          </a:prstGeom>
          <a:noFill/>
        </p:spPr>
        <p:txBody>
          <a:bodyPr wrap="square" rtlCol="0">
            <a:spAutoFit/>
          </a:bodyPr>
          <a:lstStyle/>
          <a:p>
            <a:r>
              <a:rPr lang="en-US" sz="2200" dirty="0">
                <a:latin typeface="Arial" panose="020B0604020202020204" pitchFamily="34" charset="0"/>
                <a:cs typeface="Arial" panose="020B0604020202020204" pitchFamily="34" charset="0"/>
              </a:rPr>
              <a:t>Explanation: </a:t>
            </a:r>
          </a:p>
          <a:p>
            <a:r>
              <a:rPr lang="en-US" sz="2200" dirty="0">
                <a:latin typeface="Arial" panose="020B0604020202020204" pitchFamily="34" charset="0"/>
                <a:cs typeface="Arial" panose="020B0604020202020204" pitchFamily="34" charset="0"/>
              </a:rPr>
              <a:t>The scatter plot shows the relationship between yield and profit across different seasons. It helps to see how profit values vary with agricultural yield in the dataset.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0B54351C-D51F-CAA5-B5B5-4A1F80B30673}"/>
              </a:ext>
            </a:extLst>
          </p:cNvPr>
          <p:cNvSpPr txBox="1"/>
          <p:nvPr/>
        </p:nvSpPr>
        <p:spPr>
          <a:xfrm>
            <a:off x="675957" y="1608410"/>
            <a:ext cx="8369085" cy="4247317"/>
          </a:xfrm>
          <a:prstGeom prst="rect">
            <a:avLst/>
          </a:prstGeom>
          <a:noFill/>
        </p:spPr>
        <p:txBody>
          <a:bodyPr wrap="square" rtlCol="0">
            <a:spAutoFit/>
          </a:bodyPr>
          <a:lstStyle/>
          <a:p>
            <a:pPr marL="285750" lvl="0" indent="-285750">
              <a:buClr>
                <a:schemeClr val="accent4"/>
              </a:buClr>
              <a:buFont typeface="Wingdings" panose="05000000000000000000" pitchFamily="2" charset="2"/>
              <a:buChar char="§"/>
            </a:pPr>
            <a:r>
              <a:rPr lang="en-US" sz="2800" dirty="0">
                <a:latin typeface="Arial" panose="020B0604020202020204" pitchFamily="34" charset="0"/>
                <a:cs typeface="Arial" panose="020B0604020202020204" pitchFamily="34" charset="0"/>
              </a:rPr>
              <a:t>Add data from different years for better comparison. </a:t>
            </a:r>
          </a:p>
          <a:p>
            <a:pPr marL="285750" lvl="0" indent="-285750">
              <a:buClr>
                <a:schemeClr val="accent4"/>
              </a:buClr>
              <a:buFont typeface="Wingdings" panose="05000000000000000000" pitchFamily="2" charset="2"/>
              <a:buChar char="§"/>
            </a:pPr>
            <a:r>
              <a:rPr lang="en-US" sz="2800" dirty="0">
                <a:latin typeface="Arial" panose="020B0604020202020204" pitchFamily="34" charset="0"/>
                <a:cs typeface="Arial" panose="020B0604020202020204" pitchFamily="34" charset="0"/>
              </a:rPr>
              <a:t>Study agricultural performance state-wise and district-wise. </a:t>
            </a:r>
          </a:p>
          <a:p>
            <a:pPr marL="285750" lvl="0" indent="-285750">
              <a:buClr>
                <a:schemeClr val="accent4"/>
              </a:buClr>
              <a:buFont typeface="Wingdings" panose="05000000000000000000" pitchFamily="2" charset="2"/>
              <a:buChar char="§"/>
            </a:pPr>
            <a:r>
              <a:rPr lang="en-US" sz="2800" dirty="0">
                <a:latin typeface="Arial" panose="020B0604020202020204" pitchFamily="34" charset="0"/>
                <a:cs typeface="Arial" panose="020B0604020202020204" pitchFamily="34" charset="0"/>
              </a:rPr>
              <a:t>Analyze more factors such as soil, rainfall and temperature. </a:t>
            </a:r>
          </a:p>
          <a:p>
            <a:pPr marL="285750" lvl="0" indent="-285750">
              <a:buClr>
                <a:schemeClr val="accent4"/>
              </a:buClr>
              <a:buFont typeface="Wingdings" panose="05000000000000000000" pitchFamily="2" charset="2"/>
              <a:buChar char="§"/>
            </a:pPr>
            <a:r>
              <a:rPr lang="en-US" sz="2800" dirty="0">
                <a:latin typeface="Arial" panose="020B0604020202020204" pitchFamily="34" charset="0"/>
                <a:cs typeface="Arial" panose="020B0604020202020204" pitchFamily="34" charset="0"/>
              </a:rPr>
              <a:t>Compare more crops and irrigation methods. </a:t>
            </a:r>
          </a:p>
          <a:p>
            <a:pPr marL="285750" lvl="0" indent="-285750">
              <a:buClr>
                <a:schemeClr val="accent4"/>
              </a:buClr>
              <a:buFont typeface="Wingdings" panose="05000000000000000000" pitchFamily="2" charset="2"/>
              <a:buChar char="§"/>
            </a:pPr>
            <a:r>
              <a:rPr lang="en-US" sz="2800" dirty="0">
                <a:latin typeface="Arial" panose="020B0604020202020204" pitchFamily="34" charset="0"/>
                <a:cs typeface="Arial" panose="020B0604020202020204" pitchFamily="34" charset="0"/>
              </a:rPr>
              <a:t>Study long-term trends in agricultural performance.</a:t>
            </a:r>
          </a:p>
          <a:p>
            <a:pPr>
              <a:buClr>
                <a:schemeClr val="accent4"/>
              </a:buClr>
            </a:pPr>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https://github.com/nidhayshukla45/Seasonal-Agriculture-Performance-Analysis.git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A6EF5AC-D882-ACA2-FA82-B9AF75FB78FC}"/>
              </a:ext>
            </a:extLst>
          </p:cNvPr>
          <p:cNvPicPr>
            <a:picLocks noChangeAspect="1"/>
          </p:cNvPicPr>
          <p:nvPr/>
        </p:nvPicPr>
        <p:blipFill>
          <a:blip r:embed="rId3"/>
          <a:stretch>
            <a:fillRect/>
          </a:stretch>
        </p:blipFill>
        <p:spPr>
          <a:xfrm>
            <a:off x="675957" y="1494898"/>
            <a:ext cx="8623026" cy="497702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1498</TotalTime>
  <Words>552</Words>
  <Application>Microsoft Office PowerPoint</Application>
  <PresentationFormat>Widescreen</PresentationFormat>
  <Paragraphs>53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Nidhay Shukla</cp:lastModifiedBy>
  <cp:revision>101</cp:revision>
  <dcterms:created xsi:type="dcterms:W3CDTF">2021-07-11T13:13:15Z</dcterms:created>
  <dcterms:modified xsi:type="dcterms:W3CDTF">2026-09-09T09:34:22Z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